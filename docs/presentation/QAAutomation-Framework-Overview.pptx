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1463040"/>
            <a:ext cx="5852160" cy="58521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0A8A0"/>
                </a:solidFill>
                <a:latin typeface="Segoe UI"/>
              </a:rPr>
              <a:t>QUALITY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8595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Test Automation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041648"/>
            <a:ext cx="1371600" cy="45720"/>
          </a:xfrm>
          <a:prstGeom prst="rect">
            <a:avLst/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3434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B8C7D6"/>
                </a:solidFill>
                <a:latin typeface="Segoe UI"/>
              </a:rPr>
              <a:t>Plain-English tests, running against UI, API and end-to-end.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B8C7D6"/>
                </a:solidFill>
                <a:latin typeface="Segoe UI"/>
              </a:rPr>
              <a:t>Built for KEYinfinity. Working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978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8A97A4"/>
                </a:solidFill>
                <a:latin typeface="Segoe UI"/>
              </a:rPr>
              <a:t>Prepared for the CTO  ·  QA Automation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Why we need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1071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856232"/>
            <a:ext cx="384048" cy="384048"/>
          </a:xfrm>
          <a:prstGeom prst="ellipse">
            <a:avLst/>
          </a:prstGeom>
          <a:solidFill>
            <a:srgbClr val="D9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190195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F2742"/>
                </a:solidFill>
                <a:latin typeface="Segoe UI"/>
              </a:rPr>
              <a:t>Manual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286207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Every release needs the same regression checks run again by hand. The list only ever grows, and it competes with testing the new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1071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45152" y="1856232"/>
            <a:ext cx="384048" cy="384048"/>
          </a:xfrm>
          <a:prstGeom prst="ellipse">
            <a:avLst/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190195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F2742"/>
                </a:solidFill>
                <a:latin typeface="Segoe UI"/>
              </a:rPr>
              <a:t>Risk arrives 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514600"/>
            <a:ext cx="286207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Problems are found at the end of a sprint, when the cost of fixing them is highest and there is least time to do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00200"/>
            <a:ext cx="341071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30184" y="1856232"/>
            <a:ext cx="384048" cy="384048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0536" y="190195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F2742"/>
                </a:solidFill>
                <a:latin typeface="Segoe UI"/>
              </a:rPr>
              <a:t>An unforgiving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514600"/>
            <a:ext cx="286207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This is accounting and tax software. A wrong VAT figure or a leaked tenant record is a customer incident, not a cosmetic bug.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141732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53712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WHAT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92040"/>
            <a:ext cx="99971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1">
                <a:solidFill>
                  <a:srgbClr val="0F2742"/>
                </a:solidFill>
                <a:latin typeface="Segoe UI"/>
              </a:rPr>
              <a:t>The same checks run automatically on every change, in minutes instead of days, and tell us where and why they failed.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The whole idea on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E6B7A"/>
                </a:solidFill>
                <a:latin typeface="Segoe UI"/>
              </a:rPr>
              <a:t>A sentence written in business language becomes a test that actually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239572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2395728" cy="475488"/>
          </a:xfrm>
          <a:prstGeom prst="roundRect">
            <a:avLst>
              <a:gd name="adj" fmla="val 14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95728"/>
            <a:ext cx="2395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The test, written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as a sentence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54680" y="2889504"/>
            <a:ext cx="256032" cy="310896"/>
          </a:xfrm>
          <a:prstGeom prst="rightArrow">
            <a:avLst/>
          </a:prstGeom>
          <a:solidFill>
            <a:srgbClr val="C2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3864" y="2286000"/>
            <a:ext cx="239572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83864" y="2286000"/>
            <a:ext cx="2395728" cy="475488"/>
          </a:xfrm>
          <a:prstGeom prst="roundRect">
            <a:avLst>
              <a:gd name="adj" fmla="val 14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2395728"/>
            <a:ext cx="2395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The glue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3017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Small C# method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per sentence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52744" y="2889504"/>
            <a:ext cx="256032" cy="310896"/>
          </a:xfrm>
          <a:prstGeom prst="rightArrow">
            <a:avLst/>
          </a:prstGeom>
          <a:solidFill>
            <a:srgbClr val="C2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1928" y="2286000"/>
            <a:ext cx="239572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8" y="2286000"/>
            <a:ext cx="2395728" cy="475488"/>
          </a:xfrm>
          <a:prstGeom prst="roundRect">
            <a:avLst>
              <a:gd name="adj" fmla="val 14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395728"/>
            <a:ext cx="2395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The doing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017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Page object (screen)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API client (server)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50808" y="2889504"/>
            <a:ext cx="256032" cy="310896"/>
          </a:xfrm>
          <a:prstGeom prst="rightArrow">
            <a:avLst/>
          </a:prstGeom>
          <a:solidFill>
            <a:srgbClr val="C2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79992" y="2286000"/>
            <a:ext cx="239572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9992" y="2286000"/>
            <a:ext cx="2395728" cy="475488"/>
          </a:xfrm>
          <a:prstGeom prst="roundRect">
            <a:avLst>
              <a:gd name="adj" fmla="val 14000"/>
            </a:avLst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9992" y="2395728"/>
            <a:ext cx="2395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The 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01752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Pass, or fail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with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41648"/>
            <a:ext cx="5230368" cy="384048"/>
          </a:xfrm>
          <a:prstGeom prst="roundRect">
            <a:avLst>
              <a:gd name="adj" fmla="val 3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F2742"/>
                </a:solidFill>
                <a:latin typeface="Segoe UI"/>
              </a:rPr>
              <a:t>Product and QA read and review this 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4041648"/>
            <a:ext cx="5230368" cy="384048"/>
          </a:xfrm>
          <a:prstGeom prst="roundRect">
            <a:avLst>
              <a:gd name="adj" fmla="val 3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0F2742"/>
                </a:solidFill>
                <a:latin typeface="Segoe UI"/>
              </a:rPr>
              <a:t>Engineering owns and maintains this row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46320"/>
            <a:ext cx="10820095" cy="1234440"/>
          </a:xfrm>
          <a:prstGeom prst="roundRect">
            <a:avLst>
              <a:gd name="adj" fmla="val 5000"/>
            </a:avLst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120640"/>
            <a:ext cx="9905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One artefact, two audiences. The business agrees what should be true; engineering owns how it is proved.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WHAT IT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A real test, exactly as it is written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6492240" cy="2606040"/>
          </a:xfrm>
          <a:prstGeom prst="roundRect">
            <a:avLst>
              <a:gd name="adj" fmla="val 4000"/>
            </a:avLst>
          </a:prstGeom>
          <a:solidFill>
            <a:srgbClr val="10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594360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300">
                <a:solidFill>
                  <a:srgbClr val="E89C24"/>
                </a:solidFill>
                <a:latin typeface="Consolas"/>
              </a:rPr>
              <a:t>@api @smoke @marketing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300">
                <a:solidFill>
                  <a:srgbClr val="D6E2ED"/>
                </a:solidFill>
                <a:latin typeface="Consolas"/>
              </a:rPr>
              <a:t>Feature: Page lookup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300">
                <a:solidFill>
                  <a:srgbClr val="D6E2ED"/>
                </a:solidFill>
                <a:latin typeface="Consolas"/>
              </a:rPr>
              <a:t/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300">
                <a:solidFill>
                  <a:srgbClr val="D6E2ED"/>
                </a:solidFill>
                <a:latin typeface="Consolas"/>
              </a:rPr>
              <a:t>  Scenario: A known page is found by its slug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300">
                <a:solidFill>
                  <a:srgbClr val="D6E2ED"/>
                </a:solidFill>
                <a:latin typeface="Consolas"/>
              </a:rPr>
              <a:t>    Given the content API is available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300">
                <a:solidFill>
                  <a:srgbClr val="D6E2ED"/>
                </a:solidFill>
                <a:latin typeface="Consolas"/>
              </a:rPr>
              <a:t>    When the page "technical" is looked up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300">
                <a:solidFill>
                  <a:srgbClr val="D6E2ED"/>
                </a:solidFill>
                <a:latin typeface="Consolas"/>
              </a:rPr>
              <a:t>    Then the page is returned</a:t>
            </a:r>
          </a:p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300">
                <a:solidFill>
                  <a:srgbClr val="D6E2ED"/>
                </a:solidFill>
                <a:latin typeface="Consolas"/>
              </a:rPr>
              <a:t>    And the page title is "Technical"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572768"/>
            <a:ext cx="3959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NOTICE WHAT IS NOT THERE</a:t>
            </a:r>
          </a:p>
        </p:txBody>
      </p:sp>
      <p:sp>
        <p:nvSpPr>
          <p:cNvPr id="9" name="Oval 8"/>
          <p:cNvSpPr/>
          <p:nvPr/>
        </p:nvSpPr>
        <p:spPr>
          <a:xfrm>
            <a:off x="7543800" y="2112264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2029968"/>
            <a:ext cx="3666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5E6B7A"/>
                </a:solidFill>
                <a:latin typeface="Segoe UI"/>
              </a:rPr>
              <a:t>No web address</a:t>
            </a:r>
          </a:p>
        </p:txBody>
      </p:sp>
      <p:sp>
        <p:nvSpPr>
          <p:cNvPr id="11" name="Oval 10"/>
          <p:cNvSpPr/>
          <p:nvPr/>
        </p:nvSpPr>
        <p:spPr>
          <a:xfrm>
            <a:off x="7543800" y="2532888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450592"/>
            <a:ext cx="3666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5E6B7A"/>
                </a:solidFill>
                <a:latin typeface="Segoe UI"/>
              </a:rPr>
              <a:t>No screen selectors</a:t>
            </a:r>
          </a:p>
        </p:txBody>
      </p:sp>
      <p:sp>
        <p:nvSpPr>
          <p:cNvPr id="13" name="Oval 12"/>
          <p:cNvSpPr/>
          <p:nvPr/>
        </p:nvSpPr>
        <p:spPr>
          <a:xfrm>
            <a:off x="7543800" y="2953512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2871216"/>
            <a:ext cx="3666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5E6B7A"/>
                </a:solidFill>
                <a:latin typeface="Segoe UI"/>
              </a:rPr>
              <a:t>No programming syntax</a:t>
            </a:r>
          </a:p>
        </p:txBody>
      </p:sp>
      <p:sp>
        <p:nvSpPr>
          <p:cNvPr id="15" name="Oval 14"/>
          <p:cNvSpPr/>
          <p:nvPr/>
        </p:nvSpPr>
        <p:spPr>
          <a:xfrm>
            <a:off x="7543800" y="3374136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3291840"/>
            <a:ext cx="3666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5E6B7A"/>
                </a:solidFill>
                <a:latin typeface="Segoe UI"/>
              </a:rPr>
              <a:t>No test data buried in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977639"/>
            <a:ext cx="3959352" cy="795528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7" y="41605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F2742"/>
                </a:solidFill>
                <a:latin typeface="Segoe UI"/>
              </a:rPr>
              <a:t>A product manager can review it.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F2742"/>
                </a:solidFill>
                <a:latin typeface="Segoe UI"/>
              </a:rPr>
              <a:t>An engineer can run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74920"/>
            <a:ext cx="10820095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230368"/>
            <a:ext cx="100885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50" b="0">
                <a:solidFill>
                  <a:srgbClr val="5E6B7A"/>
                </a:solidFill>
                <a:latin typeface="Segoe UI"/>
              </a:rPr>
              <a:t>The three tags on the first line are the control panel: layer (@api), depth (@smoke) and area (@marketing). The build pipeline picks what to run with them — a two-minute smoke run on a pull request, the full set overnight.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TEST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Three layers, one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73736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D9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End-to-end   ·   1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865376"/>
            <a:ext cx="34107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Proves two layers agree with each 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79" y="2578608"/>
            <a:ext cx="4937760" cy="713232"/>
          </a:xfrm>
          <a:prstGeom prst="roundRect">
            <a:avLst>
              <a:gd name="adj" fmla="val 10000"/>
            </a:avLst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User interface   ·   8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706624"/>
            <a:ext cx="34107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Proves what a person sees in a real Chrome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19856"/>
            <a:ext cx="7132320" cy="713232"/>
          </a:xfrm>
          <a:prstGeom prst="roundRect">
            <a:avLst>
              <a:gd name="adj" fmla="val 10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API   ·   9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547872"/>
            <a:ext cx="34107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Proves server rules: status codes, data shape,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7939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8A97A4"/>
                </a:solidFill>
                <a:latin typeface="Segoe UI"/>
              </a:rPr>
              <a:t>Wider band = more tests. Lower band = faster, steadier, cheaper to keep.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00600"/>
            <a:ext cx="10820095" cy="1280160"/>
          </a:xfrm>
          <a:prstGeom prst="roundRect">
            <a:avLst>
              <a:gd name="adj" fmla="val 5000"/>
            </a:avLst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029200"/>
            <a:ext cx="9905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THE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4924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Always prove it at the lowest layer that can. Driving a browser to check a server rule costs a minute a run and proves nothing extra.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HOW 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Four layers, each with one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91056"/>
            <a:ext cx="822960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91056"/>
            <a:ext cx="118872" cy="859536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2821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Feature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48256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The test in plain English. No code, no addresses, no selectors.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465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8A97A4"/>
                </a:solidFill>
                <a:latin typeface="Consolas"/>
              </a:rPr>
              <a:t>tests/*/Features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42032"/>
            <a:ext cx="822960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42032"/>
            <a:ext cx="118872" cy="859536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7919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Step definitions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9923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One small C# method per sentence. The only place a test decides pass or fail.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8A97A4"/>
                </a:solidFill>
                <a:latin typeface="Consolas"/>
              </a:rPr>
              <a:t>tests/*/Steps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93008"/>
            <a:ext cx="822960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493008"/>
            <a:ext cx="118872" cy="859536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3016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Page objects  &amp;  API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950208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The only code that knows how a screen is built or how a request is made.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4845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8A97A4"/>
                </a:solidFill>
                <a:latin typeface="Consolas"/>
              </a:rPr>
              <a:t>QAAutomation.UI / .Api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43984"/>
            <a:ext cx="822960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443984"/>
            <a:ext cx="118872" cy="859536"/>
          </a:xfrm>
          <a:prstGeom prst="rect">
            <a:avLst/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58114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901184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Shared plumbing: settings, browser start-up and shut-down, waiting, failure capture.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599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8A97A4"/>
                </a:solidFill>
                <a:latin typeface="Consolas"/>
              </a:rPr>
              <a:t>QAAutomation.Core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1591056"/>
            <a:ext cx="2267712" cy="3529584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2328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WHY IT PAYS</a:t>
            </a:r>
          </a:p>
        </p:txBody>
      </p:sp>
      <p:sp>
        <p:nvSpPr>
          <p:cNvPr id="28" name="Oval 27"/>
          <p:cNvSpPr/>
          <p:nvPr/>
        </p:nvSpPr>
        <p:spPr>
          <a:xfrm>
            <a:off x="9482328" y="2331720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4936" y="2249424"/>
            <a:ext cx="1490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A screen changes: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one file to fix</a:t>
            </a:r>
          </a:p>
        </p:txBody>
      </p:sp>
      <p:sp>
        <p:nvSpPr>
          <p:cNvPr id="30" name="Oval 29"/>
          <p:cNvSpPr/>
          <p:nvPr/>
        </p:nvSpPr>
        <p:spPr>
          <a:xfrm>
            <a:off x="9482328" y="3264408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74936" y="3182112"/>
            <a:ext cx="1490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An address changes: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one setting to edit</a:t>
            </a:r>
          </a:p>
        </p:txBody>
      </p:sp>
      <p:sp>
        <p:nvSpPr>
          <p:cNvPr id="32" name="Oval 31"/>
          <p:cNvSpPr/>
          <p:nvPr/>
        </p:nvSpPr>
        <p:spPr>
          <a:xfrm>
            <a:off x="9482328" y="4197096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4936" y="4114800"/>
            <a:ext cx="1490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Dependencies run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one way only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394960"/>
            <a:ext cx="10820095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5559552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50" b="0">
                <a:solidFill>
                  <a:srgbClr val="5E6B7A"/>
                </a:solidFill>
                <a:latin typeface="Segoe UI"/>
              </a:rPr>
              <a:t>The point of the split: a test says what should be true, and nothing else. Everything about how the product is built lives one layer below, so a redesign costs an afternoon rather than a rewrite.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THE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What it is made of,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54480"/>
          <a:ext cx="10820093" cy="2980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2219"/>
                <a:gridCol w="3029626"/>
                <a:gridCol w="5518248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we needed</a:t>
                      </a:r>
                    </a:p>
                  </a:txBody>
                  <a:tcPr marL="146304" marR="109728" marT="64008" marB="64008" anchor="ctr">
                    <a:solidFill>
                      <a:srgbClr val="0F27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we chose</a:t>
                      </a:r>
                    </a:p>
                  </a:txBody>
                  <a:tcPr marL="146304" marR="109728" marT="64008" marB="64008" anchor="ctr">
                    <a:solidFill>
                      <a:srgbClr val="0F27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 that one</a:t>
                      </a:r>
                    </a:p>
                  </a:txBody>
                  <a:tcPr marL="146304" marR="109728" marT="64008" marB="64008" anchor="ctr">
                    <a:solidFill>
                      <a:srgbClr val="0F274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0F2742"/>
                          </a:solidFill>
                          <a:latin typeface="Segoe UI"/>
                        </a:rPr>
                        <a:t>Plain-English test runner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Reqnroll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SpecFlow, the old standard, was abandoned in 2024. Reqnroll is the maintained successor.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0F2742"/>
                          </a:solidFill>
                          <a:latin typeface="Segoe UI"/>
                        </a:rPr>
                        <a:t>Browser control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Selenium WebDriver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Industry standard, and the team can already debug it. See the next slide.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0F2742"/>
                          </a:solidFill>
                          <a:latin typeface="Segoe UI"/>
                        </a:rPr>
                        <a:t>Server requests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Refit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API contracts are declared once, in code the compiler checks. Nobody builds a web address by joining strings.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0F2742"/>
                          </a:solidFill>
                          <a:latin typeface="Segoe UI"/>
                        </a:rPr>
                        <a:t>Readable assertions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AwesomeAssertions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Apache-2.0 licensed. The popular alternative became paid-per-seat — see the next slide.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0F2742"/>
                          </a:solidFill>
                          <a:latin typeface="Segoe UI"/>
                        </a:rPr>
                        <a:t>Settings and secrets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Microsoft.Extensions.Configuration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Committed files hold placeholders only. Real values arrive as environment variables.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257800"/>
            <a:ext cx="10820095" cy="86868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44068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>
                <a:solidFill>
                  <a:srgbClr val="0F2742"/>
                </a:solidFill>
                <a:latin typeface="Segoe UI"/>
              </a:rPr>
              <a:t>Every version is pinned in one file at the repository root. No floating version ranges, so a build that works today works the same next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Two decisions worth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52303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5230368" cy="566928"/>
          </a:xfrm>
          <a:prstGeom prst="roundRect">
            <a:avLst>
              <a:gd name="adj" fmla="val 12000"/>
            </a:avLst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Selenium, not Playwright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44988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E6B7A"/>
                </a:solidFill>
                <a:latin typeface="Segoe UI"/>
              </a:rPr>
              <a:t>Playwright is the stronger tool on paper. We chose Selenium anyway, for one reason that outranks the feature list: the team can own and debug it on a release morning.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E89C24"/>
                </a:solidFill>
                <a:latin typeface="Segoe UI"/>
              </a:rPr>
              <a:t>THE COST, AND WHAT WE DID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3877056"/>
            <a:ext cx="100584" cy="100584"/>
          </a:xfrm>
          <a:prstGeom prst="ellipse">
            <a:avLst/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37947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Selenium never waits by itself, so every wait goes through one shared helper. Fixed pauses are banned.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773168"/>
            <a:ext cx="100584" cy="100584"/>
          </a:xfrm>
          <a:prstGeom prst="ellipse">
            <a:avLst/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6908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There is no built-in failure viewer, so we capture our own evidence. Next slide.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572768"/>
            <a:ext cx="52303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1572768"/>
            <a:ext cx="5230368" cy="566928"/>
          </a:xfrm>
          <a:prstGeom prst="roundRect">
            <a:avLst>
              <a:gd name="adj" fmla="val 12000"/>
            </a:avLst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A licence we avoided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395728"/>
            <a:ext cx="44988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E6B7A"/>
                </a:solidFill>
                <a:latin typeface="Segoe UI"/>
              </a:rPr>
              <a:t>FluentAssertions is the best-known assertion library in .NET. Version 8 moved to a commercial, paid-per-seat licence. Our product is commercial, so taking it creates a liability.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3429000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WHAT WE USE INSTEAD</a:t>
            </a:r>
          </a:p>
        </p:txBody>
      </p:sp>
      <p:sp>
        <p:nvSpPr>
          <p:cNvPr id="18" name="Oval 17"/>
          <p:cNvSpPr/>
          <p:nvPr/>
        </p:nvSpPr>
        <p:spPr>
          <a:xfrm>
            <a:off x="6638544" y="3877056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37947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AwesomeAssertions: the Apache-2.0 community fork, near-identical to use.</a:t>
            </a:r>
          </a:p>
        </p:txBody>
      </p:sp>
      <p:sp>
        <p:nvSpPr>
          <p:cNvPr id="20" name="Oval 19"/>
          <p:cNvSpPr/>
          <p:nvPr/>
        </p:nvSpPr>
        <p:spPr>
          <a:xfrm>
            <a:off x="6638544" y="4773168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46908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No per-seat cost, no licence review, and no code to rewrite later.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8A97A4"/>
                </a:solidFill>
                <a:latin typeface="Segoe UI"/>
              </a:rPr>
              <a:t>Both decisions are written down with their reasoning, so the next person inherits the argument, not just the outcome.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When a test fails, we know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5E6B7A"/>
                </a:solidFill>
                <a:latin typeface="Segoe UI"/>
              </a:rPr>
              <a:t>An intermittent failure nobody can explain is worse than no test at all. So every failed browser test writes four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25968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542032"/>
            <a:ext cx="457200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04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F2742"/>
                </a:solidFill>
                <a:latin typeface="Consolas"/>
              </a:rPr>
              <a:t>screenshot.png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27248"/>
            <a:ext cx="20482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What the user actually saw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286000"/>
            <a:ext cx="25968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2542032"/>
            <a:ext cx="457200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761488"/>
            <a:ext cx="204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F2742"/>
                </a:solidFill>
                <a:latin typeface="Consolas"/>
              </a:rPr>
              <a:t>page-source.html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27248"/>
            <a:ext cx="20482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Was the element missing, or just hidden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286000"/>
            <a:ext cx="25968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542032"/>
            <a:ext cx="457200" cy="91440"/>
          </a:xfrm>
          <a:prstGeom prst="rect">
            <a:avLst/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761488"/>
            <a:ext cx="204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F2742"/>
                </a:solidFill>
                <a:latin typeface="Consolas"/>
              </a:rPr>
              <a:t>console.log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27248"/>
            <a:ext cx="20482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Did the page's own code throw an error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286000"/>
            <a:ext cx="25968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2542032"/>
            <a:ext cx="4572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761488"/>
            <a:ext cx="204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F2742"/>
                </a:solidFill>
                <a:latin typeface="Consolas"/>
              </a:rPr>
              <a:t>location.txt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127248"/>
            <a:ext cx="20482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The real address, title and run 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60520"/>
            <a:ext cx="10820095" cy="54864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0F2742"/>
                </a:solidFill>
                <a:latin typeface="Consolas"/>
              </a:rPr>
              <a:t>test-results \ &lt;suite&gt; \ &lt;scenario name&gt;-&lt;timestamp&gt; \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92040"/>
            <a:ext cx="52303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074920"/>
            <a:ext cx="384048" cy="384048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5120640"/>
            <a:ext cx="4151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F2742"/>
                </a:solidFill>
                <a:latin typeface="Segoe UI"/>
              </a:rPr>
              <a:t>Nothing is kept when tests 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623559"/>
            <a:ext cx="4681728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A green run writes no files, so an empty folder is the healthy state.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784" y="4892040"/>
            <a:ext cx="52303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47104" y="5074920"/>
            <a:ext cx="384048" cy="384048"/>
          </a:xfrm>
          <a:prstGeom prst="ellipse">
            <a:avLst/>
          </a:prstGeom>
          <a:solidFill>
            <a:srgbClr val="D9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77456" y="5120640"/>
            <a:ext cx="4151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F2742"/>
                </a:solidFill>
                <a:latin typeface="Segoe UI"/>
              </a:rPr>
              <a:t>Treat the folder as sensitive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5623559"/>
            <a:ext cx="4681728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It is whatever the app really sent. Masking comes before we point this at a product with a login.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QUALITY OF THE TESTS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Guardrails, not good intentions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>
                <a:solidFill>
                  <a:srgbClr val="5E6B7A"/>
                </a:solidFill>
                <a:latin typeface="Segoe UI"/>
              </a:rPr>
              <a:t>A suite nobody trusts gets ignored, then deleted. Four rules keep it trustworthy, three enforced by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12848"/>
            <a:ext cx="118872" cy="914400"/>
          </a:xfrm>
          <a:prstGeom prst="rect">
            <a:avLst/>
          </a:prstGeom>
          <a:solidFill>
            <a:srgbClr val="D9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500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No secrets in the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70048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A git hook scans every commit for credential-shaped values, masks what it finds, and blocks the commit. If the scanner itself fails, the commit is still blocked.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478024"/>
            <a:ext cx="1280160" cy="384048"/>
          </a:xfrm>
          <a:prstGeom prst="roundRect">
            <a:avLst>
              <a:gd name="adj" fmla="val 3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0F2742"/>
                </a:solidFill>
                <a:latin typeface="Segoe UI"/>
              </a:rPr>
              <a:t>Automated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00400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200400"/>
            <a:ext cx="118872" cy="914400"/>
          </a:xfrm>
          <a:prstGeom prst="rect">
            <a:avLst/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3756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No fixed pauses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57600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Every wait goes through one shared helper that waits for a condition and gives up on a timeout. A slow page costs a second, not ten.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3465576"/>
            <a:ext cx="1280160" cy="384048"/>
          </a:xfrm>
          <a:prstGeom prst="roundRect">
            <a:avLst>
              <a:gd name="adj" fmla="val 3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0F2742"/>
                </a:solidFill>
                <a:latin typeface="Segoe UI"/>
              </a:rPr>
              <a:t>Automated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87952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87952"/>
            <a:ext cx="118872" cy="91440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2511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Code a manual tester can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45152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The clever, compact C# idioms are banned on purpose. The build raises a warning naming the file that broke the rule.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4453128"/>
            <a:ext cx="1280160" cy="384048"/>
          </a:xfrm>
          <a:prstGeom prst="roundRect">
            <a:avLst>
              <a:gd name="adj" fmla="val 3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0F2742"/>
                </a:solidFill>
                <a:latin typeface="Segoe UI"/>
              </a:rPr>
              <a:t>Automated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75504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175504"/>
            <a:ext cx="118872" cy="9144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312664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Judgement lives in one place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632704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A page object reports what it sees; a client reports what the server said. Only the test decides pass or fail.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5440680"/>
            <a:ext cx="1280160" cy="384048"/>
          </a:xfrm>
          <a:prstGeom prst="roundRect">
            <a:avLst>
              <a:gd name="adj" fmla="val 3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0F2742"/>
                </a:solidFill>
                <a:latin typeface="Segoe UI"/>
              </a:rPr>
              <a:t>Code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Where it stands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27632"/>
            <a:ext cx="2596896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22311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4200" b="1">
                <a:solidFill>
                  <a:srgbClr val="00A8A0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33472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E6B7A"/>
                </a:solidFill>
                <a:latin typeface="Segoe UI"/>
              </a:rPr>
              <a:t>scenarios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27632"/>
            <a:ext cx="2596896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47088"/>
            <a:ext cx="22311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4200" b="1">
                <a:solidFill>
                  <a:srgbClr val="1B3A5C"/>
                </a:solidFill>
                <a:latin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33472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E6B7A"/>
                </a:solidFill>
                <a:latin typeface="Segoe UI"/>
              </a:rPr>
              <a:t>capability areas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27632"/>
            <a:ext cx="2596896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47088"/>
            <a:ext cx="22311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4200" b="1">
                <a:solidFill>
                  <a:srgbClr val="E89C24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3472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E6B7A"/>
                </a:solidFill>
                <a:latin typeface="Segoe UI"/>
              </a:rPr>
              <a:t>build warnings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627632"/>
            <a:ext cx="2596896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847088"/>
            <a:ext cx="22311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4200" b="1">
                <a:solidFill>
                  <a:srgbClr val="6C5CE7"/>
                </a:solidFill>
                <a:latin typeface="Segoe UI"/>
              </a:rPr>
              <a:t>~2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633472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E6B7A"/>
                </a:solidFill>
                <a:latin typeface="Segoe UI"/>
              </a:rPr>
              <a:t>full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29000"/>
            <a:ext cx="5230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WHAT IS COVERED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877056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94760"/>
            <a:ext cx="4937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5E6B7A"/>
                </a:solidFill>
                <a:latin typeface="Segoe UI"/>
              </a:rPr>
              <a:t>API: page listing, page lookup, pagination rules, error handling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535424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453128"/>
            <a:ext cx="4937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5E6B7A"/>
                </a:solidFill>
                <a:latin typeface="Segoe UI"/>
              </a:rPr>
              <a:t>Browser: home page, primary navigation, enquiry form validation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193792"/>
            <a:ext cx="100584" cy="10058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5111496"/>
            <a:ext cx="4937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5E6B7A"/>
                </a:solidFill>
                <a:latin typeface="Segoe UI"/>
              </a:rPr>
              <a:t>End-to-end: the API and the rendered page agreeing on one record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2784" y="3383280"/>
            <a:ext cx="5230368" cy="269748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6393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WHAT TODAY'S RUN PROVES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4005072"/>
            <a:ext cx="449884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It runs against a public marketing website, standing in for KEYinfinity until that is available.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Every request is read-only, so the suite is safe to run at any time.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That proves the framework itself works end to end. Proving our own product starts in Phase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THE 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Pointing it at KEYinfinity takes three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10712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38528"/>
            <a:ext cx="566928" cy="566928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7706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0F2742"/>
                </a:solidFill>
                <a:latin typeface="Segoe UI"/>
              </a:rPr>
              <a:t>Change two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56432"/>
            <a:ext cx="277063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The product address and the API address live in one settings file. Nothing else moves.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45920"/>
            <a:ext cx="3410712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0872" y="1938528"/>
            <a:ext cx="566928" cy="566928"/>
          </a:xfrm>
          <a:prstGeom prst="ellipse">
            <a:avLst/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743200"/>
            <a:ext cx="27706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0F2742"/>
                </a:solidFill>
                <a:latin typeface="Segoe UI"/>
              </a:rPr>
              <a:t>Agree test identifiers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456432"/>
            <a:ext cx="277063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Our front end can mark elements with a dedicated test attribute. That makes browser tests near-unbreakable by redesign. It needs to be a standing agreement with the front-end team.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45920"/>
            <a:ext cx="3410712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75904" y="1938528"/>
            <a:ext cx="566928" cy="566928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743200"/>
            <a:ext cx="27706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0F2742"/>
                </a:solidFill>
                <a:latin typeface="Segoe UI"/>
              </a:rPr>
              <a:t>Write the real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3456432"/>
            <a:ext cx="277063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Swap the example features for KEYinfinity capabilities. The structure, the rules and the plumbing all stay exactly as they 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120640"/>
            <a:ext cx="10820095" cy="960120"/>
          </a:xfrm>
          <a:prstGeom prst="roundRect">
            <a:avLst>
              <a:gd name="adj" fmla="val 5000"/>
            </a:avLst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34924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Step 2 is the one that needs your backing. A test attribute owned by the front end is the difference between tests that survive a redesign and tests that break on every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How it rolls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87168"/>
            <a:ext cx="10637215" cy="54864"/>
          </a:xfrm>
          <a:prstGeom prst="rect">
            <a:avLst/>
          </a:prstGeom>
          <a:solidFill>
            <a:srgbClr val="DA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359152"/>
            <a:ext cx="310896" cy="310896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F2742"/>
                </a:solidFill>
                <a:latin typeface="Segoe UI"/>
              </a:rPr>
              <a:t>Phase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7007" y="2029968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25968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108960"/>
            <a:ext cx="208483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Framework, house rules, failure evidence, secret scanning, 18 passing tests proving the shape works.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2359152"/>
            <a:ext cx="310896" cy="310896"/>
          </a:xfrm>
          <a:prstGeom prst="ellipse">
            <a:avLst/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7373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F2742"/>
                </a:solidFill>
                <a:latin typeface="Segoe UI"/>
              </a:rPr>
              <a:t>Phase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0208" y="2029968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25968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3108960"/>
            <a:ext cx="208483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Build pipeline in Azure DevOps. Smoke tests on every pull request, the full set overnight, results published to the build.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2359152"/>
            <a:ext cx="310896" cy="310896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7373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F2742"/>
                </a:solidFill>
                <a:latin typeface="Segoe UI"/>
              </a:rPr>
              <a:t>Phase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93408" y="2029968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On KEYinfinity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880360"/>
            <a:ext cx="25968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108960"/>
            <a:ext cx="208483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Real coverage: VAT returns and MTD submission, bank reconciliation, invoicing and payments, roles and permissions.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0" y="2359152"/>
            <a:ext cx="310896" cy="310896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7373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F2742"/>
                </a:solidFill>
                <a:latin typeface="Segoe UI"/>
              </a:rPr>
              <a:t>Phase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6608" y="2029968"/>
            <a:ext cx="1554480" cy="274320"/>
          </a:xfrm>
          <a:prstGeom prst="roundRect">
            <a:avLst>
              <a:gd name="adj" fmla="val 4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Hardening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880360"/>
            <a:ext cx="25968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3108960"/>
            <a:ext cx="208483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5E6B7A"/>
                </a:solidFill>
                <a:latin typeface="Segoe UI"/>
              </a:rPr>
              <a:t>Tenant isolation tests, a stub standing in for HMRC so no pipeline ever calls a real tax authority, throwaway databases per run.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2920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8A97A4"/>
                </a:solidFill>
                <a:latin typeface="Segoe UI"/>
              </a:rPr>
              <a:t>Phases 2 and 3 can run in parallel. The pipeline does not need the product, and the product does not need the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What the framework needs from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00200"/>
          <a:ext cx="10820094" cy="2980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29626"/>
                <a:gridCol w="6275655"/>
                <a:gridCol w="1514813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we need</a:t>
                      </a:r>
                    </a:p>
                  </a:txBody>
                  <a:tcPr marL="146304" marR="109728" marT="64008" marB="64008" anchor="ctr">
                    <a:solidFill>
                      <a:srgbClr val="0F27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146304" marR="109728" marT="64008" marB="64008" anchor="ctr">
                    <a:solidFill>
                      <a:srgbClr val="0F27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marL="146304" marR="109728" marT="64008" marB="64008" anchor="ctr">
                    <a:solidFill>
                      <a:srgbClr val="0F274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0F2742"/>
                          </a:solidFill>
                          <a:latin typeface="Segoe UI"/>
                        </a:rPr>
                        <a:t>Test identifiers in the front end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Our model-driven platform emits a test attribute on generated elements, treated as a contract rather than a favour.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0F2742"/>
                          </a:solidFill>
                          <a:latin typeface="Segoe UI"/>
                        </a:rPr>
                        <a:t>An environment automation can run against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Stable, resettable, and not production. Browser tests need a real deployment.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0F2742"/>
                          </a:solidFill>
                          <a:latin typeface="Segoe UI"/>
                        </a:rPr>
                        <a:t>Every integration pointable at a stub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A pipeline must never call HMRC. We supply the stub; we need the switch to exist in every environment.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0F2742"/>
                          </a:solidFill>
                          <a:latin typeface="Segoe UI"/>
                        </a:rPr>
                        <a:t>Two seeded test tenants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Tenant isolation is a functional requirement. It cannot be tested with a single tenant.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146304" marR="109728" marT="64008" marB="64008" anchor="ctr">
                    <a:solidFill>
                      <a:srgbClr val="F5F7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1">
                          <a:solidFill>
                            <a:srgbClr val="0F2742"/>
                          </a:solidFill>
                          <a:latin typeface="Segoe UI"/>
                        </a:rPr>
                        <a:t>Thirty minutes with the product manager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Fifteen open domain questions: the role model, the VAT return lifecycle, what counts as a cross-tenant refusal.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</a:pPr>
                      <a:r>
                        <a:rPr sz="1200" b="0">
                          <a:solidFill>
                            <a:srgbClr val="5E6B7A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146304" marR="109728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303520"/>
            <a:ext cx="10820095" cy="77724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468112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F2742"/>
                </a:solidFill>
                <a:latin typeface="Segoe UI"/>
              </a:rPr>
              <a:t>None of these are large pieces of work. All of them are cheaper to agree now than to retrofit after the first hundred tests are written.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0A8A0"/>
                </a:solidFill>
                <a:latin typeface="Segoe U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900" b="1">
                <a:solidFill>
                  <a:srgbClr val="0F2742"/>
                </a:solidFill>
                <a:latin typeface="Segoe UI"/>
              </a:rPr>
              <a:t>Deliberate boundaries, and when they lift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8A97A4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5E6B7A"/>
                </a:solidFill>
                <a:latin typeface="Segoe UI"/>
              </a:rPr>
              <a:t>Each of these is a choice with a known trigger for revisiting it, rather than an oversight.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0820095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78024"/>
            <a:ext cx="274320" cy="274320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7048" y="2295144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Authentication and tenant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624328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The stand-in site has no login, tenants or database, so these cannot be shown yet. They arrive with KEYinfinity access, in Phase 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72968"/>
            <a:ext cx="10820095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502152"/>
            <a:ext cx="274320" cy="274320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3319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The build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3648456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Parked deliberately while the suite settled. The conventions are already written down, so Phase 2 is configuration rather than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97096"/>
            <a:ext cx="10820095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526280"/>
            <a:ext cx="274320" cy="274320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" y="43434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Chrome only, for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672583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A deliberate single-browser start. Any other browser fails with a clear configuration error, so adding Edge or Firefox is a scoped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221224"/>
            <a:ext cx="10820095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5550408"/>
            <a:ext cx="274320" cy="274320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7048" y="536752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0F2742"/>
                </a:solidFill>
                <a:latin typeface="Segoe UI"/>
              </a:rPr>
              <a:t>Live third-party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5696712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E6B7A"/>
                </a:solidFill>
                <a:latin typeface="Segoe UI"/>
              </a:rPr>
              <a:t>Expected page titles and link names are marketing copy, not contract. They sit in one settings file, so a copy change is a one-line edit.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0A8A0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Four decisions and we can start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468880"/>
            <a:ext cx="420624" cy="42062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F2742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248716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Endorse the test attribute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28163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9FB2C4"/>
                </a:solidFill>
                <a:latin typeface="Segoe UI"/>
              </a:rPr>
              <a:t>as a front-end contract, owned by the platform team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3364992"/>
            <a:ext cx="420624" cy="42062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F2742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338328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Approve the pipeline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71246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9FB2C4"/>
                </a:solidFill>
                <a:latin typeface="Segoe UI"/>
              </a:rPr>
              <a:t>smoke on every pull request, full regression overnight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261104"/>
            <a:ext cx="420624" cy="42062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F2742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427939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Confirm environment and stub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46085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9FB2C4"/>
                </a:solidFill>
                <a:latin typeface="Segoe UI"/>
              </a:rPr>
              <a:t>including the rule that no pipeline calls a real tax authority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5157216"/>
            <a:ext cx="420624" cy="420624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0F2742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517550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Book thirty minutes with the product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550468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9FB2C4"/>
                </a:solidFill>
                <a:latin typeface="Segoe UI"/>
              </a:rPr>
              <a:t>to close the fifteen open domain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6035040"/>
            <a:ext cx="10058400" cy="45720"/>
          </a:xfrm>
          <a:prstGeom prst="rect">
            <a:avLst/>
          </a:prstGeom>
          <a:solidFill>
            <a:srgbClr val="E89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62362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8A97A4"/>
                </a:solidFill>
                <a:latin typeface="Segoe UI"/>
              </a:rPr>
              <a:t>The framework is built and proven. What it needs now is a product to point 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